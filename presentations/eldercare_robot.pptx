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汇报选择养老陪护机器人中的差速移动底盘作为研究对象，建立一个双输入、双输出、四状态的简化模型。重点是用三章课件的方法完成物理建模、状态空间描述、传递函数、阶跃响应以及能控能观性分析，不涉及完整的导航算法。建议总汇报时间约8—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PDF第72页要求选择一个多输入多输出系统，列微分方程和状态方程，说明各矩阵，由状态方程求传递函数，并判断可观可控性。阶跃响应是可选项，本汇报一并完成。研究范围是底盘，不把感知、语音或路径规划混入线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规定向前速度为正，偏航角逆时针为正，左右轮的正转矩均表示使底盘向前的轮端作用。s定义为有符号累计纵向行程，即v的积分，不是全局X坐标，倒车时可减小。若扩展到全局定位，需要加入X点=v cosψ，Y点=v sinψ，这部分非线性不纳入本次线性分析。m和J为等效参数，轮系惯量可在等效化中吸收；电机内环假定足够快，不展开电流动态。模型忽略高阶耦合及侧滑，适用于所述低速工况。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简化模型中，把每个轮端等效转矩除以轮半径得到有效纵向驱动力。两轮力之和改变纵向速度，差值乘半轮距形成偏航力矩。等效黏性阻尼与速度成正比。在保持符号约定一致的前提下即可写出这两条动力学方程，再加上行程和偏航角的积分关系。F表示等效驱动作用，未另计轮端惯性；本模型不是把未知摩擦系数当作可用控制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是4乘4系统矩阵，B是4乘2输入矩阵，C是2乘4输出矩阵，D是2乘2直接传递矩阵。位置和角度不会随转矩瞬时跳变，所以D为零。a和b为速度衰减系数，c和d分别刻画转矩对纵向加速度和偏航角加速度的作用。这里的标准形式指一般状态空间形式，不把多输入系统强行套成单输入伴随标准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数值只是用于课堂分析的透明示例，没有来自真实养老机器人实验。轮距为0.5米。a=bv/m=1，b=bω/J=2.5，c=1/(mr)=0.25，d=l/(Jr)=0.625。后续如果有实物，应通过质量测量、结构估算和系统辨识替换参数。C和D保持上一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先对状态方程作拉普拉斯变换，在零初始条件下得到x(p)=(pI-A)逆乘B u(p)，再代入输出方程得到G。将本例矩阵代入得到四个通道。数值形式中第一行两项均为0.25/[p(p+1)]，第二行为−0.625/[p(p+2.5)]和+0.625/[p(p+2.5)]。这不是两个互不相关的左右轮速度模型，而是左右轮共同作用于前进与偏航两个物理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表达式适用于t大于等于0，并假设a、b为正，符合本例正阻尼。由于A含零特征值，是奇异矩阵，所以不使用A逆乘(e的At次方减I)这种不适用的简写，而直接积分。两个输入通道分别施加单位阶跃时，将UL、UR分别取1和0即可。由于线性叠加，后面同向和反向阶跃只是这两列响应的和与差，并不是把某一个同时阶跃结果称为整个MIMO阶跃响应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第6页教学参数，仿真0至5秒。左列取两轮均为1牛米，得到v=0.5(1−exp(−t))，s=0.5(t−1+exp(−t))；右列取左轮−1、右轮+1牛米，得到ω=0.5(1−exp(−2.5t))，ψ=0.5[t−(1−exp(−2.5t))/2.5]。纵向与偏航速度均趋于0.5，但单位不同，不能直接比较大小。位置和角度持续变化属于积分特性，不意味着数值仿真发散。仿真用SciPy lsim积分状态方程，与解析表达式逐点对照，最大误差小于1e−9。仿真仅验证所建数学模型，不证明实机性能或安全。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本结论是状态能控性，使用第三章的秩判据。B有2列，AB有2列，所以取[B AB]是一个4乘4子矩阵，其行列式为负4c平方d平方。只要质量、转动惯量、轮半径有限且为正，半轮距大于零，就有c和d不为零，子式非零，整个能控性矩阵必为满行秩。数值子式为−0.09765625。物理上，两轮转矩之和与差可独立决定纵向和偏航加速度，再通过积分改变位移和角度。能控性判据基于不受限的理想线性输入，不意味着满足转矩饱和、避障等约束时仍可实现任意运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号表示按行堆叠。输出为s和ψ时，C给出两个位置状态，CA给出v和ω，所以前四行已经是单位矩阵的行置换，行列式−1。系统因此完全能观。这个结论依赖输出选择，不能只看A。若输出改为v和ω，输出及其导数均不含初始s和ψ，能观性矩阵秩只有2。实际实现可用带初始参考的编码器里程信息与航向估计，但轮滑、漂移、噪声会影响估计质量；理想能观性不代表绝对定位精确。若初始s人为定义为0，则是已知初值约束，而非改变上述任意初态能观性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作业所有必做项已经覆盖，也完成了可选阶跃响应。结论限于本文定义的四状态常参数模型。A的特征值为0、−1、0、−2.5，速度子系统稳定，但含积分的整体开环系统不渐近稳定，也不是位置输出意义下的BIBO稳定。能控能观与稳定性是不同概念，不应混同。若用于真实陪护，应进一步考虑闭环控制、限速限加速度、噪声、侧滑、接触安全和定位误差，这些属于后续研究，不是本模型已经验证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参考文件为用户提供的三份PDF，页码均为PDF阅读器页码，不是讲义印刷页码。第二章文件名：第二章 （状态空间分析）线性系统理论（6课时）20251020.pdf；第三章文件名：第三章 能控性和能观性（3课时）20251020.pdf。课件提供方法，差速底盘模型、参数与仿真是本报告的应用推导，未宣称来自课件中的现成机器人案例。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94360"/>
            <a:ext cx="594360" cy="73152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822960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400" b="1">
                <a:solidFill>
                  <a:srgbClr val="1761C0"/>
                </a:solidFill>
                <a:latin typeface="Noto Sans CJK SC"/>
              </a:defRPr>
            </a:pPr>
            <a:r>
              <a:t>LINEAR SYSTEMS  /  课程综合作业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8229600" cy="1463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3800" b="1">
                <a:solidFill>
                  <a:srgbClr val="143354"/>
                </a:solidFill>
                <a:latin typeface="Noto Sans CJK SC"/>
              </a:defRPr>
            </a:pPr>
            <a:r>
              <a:t>养老陪护机器人</a:t>
            </a:r>
          </a:p>
          <a:p>
            <a:pPr algn="l">
              <a:spcAft>
                <a:spcPts val="900"/>
              </a:spcAft>
              <a:defRPr sz="3800" b="1">
                <a:solidFill>
                  <a:srgbClr val="143354"/>
                </a:solidFill>
                <a:latin typeface="Noto Sans CJK SC"/>
              </a:defRPr>
            </a:pPr>
            <a:r>
              <a:t>差速移动底盘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85032"/>
            <a:ext cx="7955279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400" b="0">
                <a:solidFill>
                  <a:srgbClr val="253D55"/>
                </a:solidFill>
                <a:latin typeface="Noto Sans CJK SC"/>
              </a:defRPr>
            </a:pPr>
            <a:r>
              <a:t>状态空间建模与能控、能观性分析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4773168"/>
            <a:ext cx="740664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61768B"/>
                </a:solidFill>
                <a:latin typeface="Noto Sans CJK SC"/>
              </a:defRPr>
            </a:pPr>
            <a:r>
              <a:t>双输入 · 双输出 · 四状态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61768B"/>
                </a:solidFill>
                <a:latin typeface="Noto Sans CJK SC"/>
              </a:defRPr>
            </a:pPr>
            <a:r>
              <a:t>从物理建模到阶跃响应与结构性质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1828800"/>
            <a:ext cx="21945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938528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900" b="1">
                <a:solidFill>
                  <a:srgbClr val="1761C0"/>
                </a:solidFill>
                <a:latin typeface="Noto Sans CJK SC"/>
              </a:defRPr>
            </a:pPr>
            <a:r>
              <a:t>建模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2743200"/>
            <a:ext cx="21945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852928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900" b="1">
                <a:solidFill>
                  <a:srgbClr val="1761C0"/>
                </a:solidFill>
                <a:latin typeface="Noto Sans CJK SC"/>
              </a:defRPr>
            </a:pPr>
            <a:r>
              <a:t>响应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3657600"/>
            <a:ext cx="21945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3767328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900" b="1">
                <a:solidFill>
                  <a:srgbClr val="1761C0"/>
                </a:solidFill>
                <a:latin typeface="Noto Sans CJK SC"/>
              </a:defRPr>
            </a:pPr>
            <a:r>
              <a:t>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630936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200" b="0">
                <a:solidFill>
                  <a:srgbClr val="61768B"/>
                </a:solidFill>
                <a:latin typeface="Noto Sans CJK SC"/>
              </a:defRPr>
            </a:pPr>
            <a:r>
              <a:t>研究场景：室内陪伴随行与送物服务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01 / 场景与任务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用一个底盘子系统，覆盖全部作业要求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3657600" cy="3621024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300" b="1">
                <a:solidFill>
                  <a:srgbClr val="1761C0"/>
                </a:solidFill>
                <a:latin typeface="Noto Sans CJK SC"/>
              </a:defRPr>
            </a:pPr>
            <a:r>
              <a:t>养老场景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3017520" cy="22860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200" b="0">
                <a:solidFill>
                  <a:srgbClr val="253D55"/>
                </a:solidFill>
                <a:latin typeface="Noto Sans CJK SC"/>
              </a:defRPr>
            </a:pPr>
            <a:r>
              <a:t>陪伴老人行走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253D55"/>
                </a:solidFill>
                <a:latin typeface="Noto Sans CJK SC"/>
              </a:defRPr>
            </a:pPr>
            <a:r>
              <a:t>室内送药、送物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253D55"/>
                </a:solidFill>
                <a:latin typeface="Noto Sans CJK SC"/>
              </a:defRPr>
            </a:pPr>
            <a:r>
              <a:t>低速前进与平稳转向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783080"/>
            <a:ext cx="667512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200" b="1">
                <a:solidFill>
                  <a:srgbClr val="143354"/>
                </a:solidFill>
                <a:latin typeface="Noto Sans CJK SC"/>
              </a:defRPr>
            </a:pPr>
            <a:r>
              <a:t>研究对象：左右轮独立驱动的移动底盘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60604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1761C0"/>
                </a:solidFill>
                <a:latin typeface="Noto Sans CJK SC"/>
              </a:defRPr>
            </a:pPr>
            <a:r>
              <a:t>01 物理建模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606040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由力与力矩平衡列微分方程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73552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1761C0"/>
                </a:solidFill>
                <a:latin typeface="Noto Sans CJK SC"/>
              </a:defRPr>
            </a:pPr>
            <a:r>
              <a:t>02 状态描述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273552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给出输入、输出与 A、B、C、D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941064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1761C0"/>
                </a:solidFill>
                <a:latin typeface="Noto Sans CJK SC"/>
              </a:defRPr>
            </a:pPr>
            <a:r>
              <a:t>03 动态分析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941064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传递函数矩阵与阶跃响应（选做）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608576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1761C0"/>
                </a:solidFill>
                <a:latin typeface="Noto Sans CJK SC"/>
              </a:defRPr>
            </a:pPr>
            <a:r>
              <a:t>04 结构验证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08576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检验能控性与能观性矩阵的秩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715000"/>
            <a:ext cx="11000232" cy="53035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核心问题：左右轮转矩如何改变前进运动与转向运动？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02 / 建模边界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明确边界：累计行程与偏航，不建全局导航模型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120640" cy="3749039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11680" y="2286000"/>
            <a:ext cx="2194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46504" y="2606040"/>
            <a:ext cx="320040" cy="1325880"/>
          </a:xfrm>
          <a:prstGeom prst="roundRect">
            <a:avLst/>
          </a:prstGeom>
          <a:solidFill>
            <a:srgbClr val="14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2606040"/>
            <a:ext cx="320040" cy="1325880"/>
          </a:xfrm>
          <a:prstGeom prst="roundRect">
            <a:avLst/>
          </a:prstGeom>
          <a:solidFill>
            <a:srgbClr val="14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4805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1761C0"/>
                </a:solidFill>
                <a:latin typeface="Noto Sans CJK SC"/>
              </a:defRPr>
            </a:pPr>
            <a:r>
              <a:t>差速底盘俯视示意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左轮 τL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160520"/>
            <a:ext cx="155448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右轮 τR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4800600"/>
            <a:ext cx="2395728" cy="0"/>
          </a:xfrm>
          <a:prstGeom prst="line">
            <a:avLst/>
          </a:prstGeom>
          <a:ln w="19050">
            <a:solidFill>
              <a:srgbClr val="617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04288" y="484632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500" b="0">
                <a:solidFill>
                  <a:srgbClr val="61768B"/>
                </a:solidFill>
                <a:latin typeface="Noto Sans CJK SC"/>
              </a:defRPr>
            </a:pPr>
            <a:r>
              <a:t>轮距 2l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606040"/>
            <a:ext cx="137160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600" b="1">
                <a:solidFill>
                  <a:srgbClr val="1761C0"/>
                </a:solidFill>
                <a:latin typeface="Noto Sans CJK SC"/>
              </a:defRPr>
            </a:pPr>
            <a:r>
              <a:t>↑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337560"/>
            <a:ext cx="137160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1">
                <a:solidFill>
                  <a:srgbClr val="1761C0"/>
                </a:solidFill>
                <a:latin typeface="Noto Sans CJK SC"/>
              </a:defRPr>
            </a:pPr>
            <a:r>
              <a:t>↺ 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801368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300" b="1">
                <a:solidFill>
                  <a:srgbClr val="143354"/>
                </a:solidFill>
                <a:latin typeface="Noto Sans CJK SC"/>
              </a:defRPr>
            </a:pPr>
            <a:r>
              <a:t>输入、输出与约束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514600"/>
            <a:ext cx="5303520" cy="2697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253D55"/>
                </a:solidFill>
                <a:latin typeface="Noto Sans CJK SC"/>
              </a:defRPr>
            </a:pPr>
            <a:r>
              <a:t>输入：左、右轮端等效驱动转矩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253D55"/>
                </a:solidFill>
                <a:latin typeface="Noto Sans CJK SC"/>
              </a:defRPr>
            </a:pPr>
            <a:r>
              <a:t>输出：累计纵向行程 s、偏航角 ψ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253D55"/>
                </a:solidFill>
                <a:latin typeface="Noto Sans CJK SC"/>
              </a:defRPr>
            </a:pPr>
            <a:r>
              <a:t>假设：平地、纯滚动、低速运动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253D55"/>
                </a:solidFill>
                <a:latin typeface="Noto Sans CJK SC"/>
              </a:defRPr>
            </a:pPr>
            <a:r>
              <a:t>简化：纵向与偏航采用常参数等效模型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253D55"/>
                </a:solidFill>
                <a:latin typeface="Noto Sans CJK SC"/>
              </a:defRPr>
            </a:pPr>
            <a:r>
              <a:t>暂不计：侧滑、饱和与复杂摩擦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715000"/>
            <a:ext cx="11000232" cy="53035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824728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s 满足 ṡ = v；它不是全局 X 坐标。全局位置运动学仍含 sin ψ、cos 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03 / 动力学建模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从力与力矩平衡，得到四个一阶方程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5120640" cy="361188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596128" cy="361188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4805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1761C0"/>
                </a:solidFill>
                <a:latin typeface="Noto Sans CJK SC"/>
              </a:defRPr>
            </a:pPr>
            <a:r>
              <a:t>纵向：转矩之和驱动前进</a:t>
            </a:r>
          </a:p>
        </p:txBody>
      </p:sp>
      <p:pic>
        <p:nvPicPr>
          <p:cNvPr id="11" name="Picture 10" descr="eq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144" y="2606040"/>
            <a:ext cx="3079630" cy="640080"/>
          </a:xfrm>
          <a:prstGeom prst="rect">
            <a:avLst/>
          </a:prstGeom>
        </p:spPr>
      </p:pic>
      <p:pic>
        <p:nvPicPr>
          <p:cNvPr id="12" name="Picture 11" descr="eq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93" y="3474720"/>
            <a:ext cx="3244132" cy="731520"/>
          </a:xfrm>
          <a:prstGeom prst="rect">
            <a:avLst/>
          </a:prstGeom>
        </p:spPr>
      </p:pic>
      <p:pic>
        <p:nvPicPr>
          <p:cNvPr id="13" name="Picture 12" descr="eq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371" y="4480560"/>
            <a:ext cx="717176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1920240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1761C0"/>
                </a:solidFill>
                <a:latin typeface="Noto Sans CJK SC"/>
              </a:defRPr>
            </a:pPr>
            <a:r>
              <a:t>偏航：转矩之差驱动转向</a:t>
            </a:r>
          </a:p>
        </p:txBody>
      </p:sp>
      <p:pic>
        <p:nvPicPr>
          <p:cNvPr id="15" name="Picture 14" descr="eq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894" y="2606040"/>
            <a:ext cx="3024691" cy="640080"/>
          </a:xfrm>
          <a:prstGeom prst="rect">
            <a:avLst/>
          </a:prstGeom>
        </p:spPr>
      </p:pic>
      <p:pic>
        <p:nvPicPr>
          <p:cNvPr id="16" name="Picture 15" descr="eq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653" y="3474720"/>
            <a:ext cx="4253173" cy="731520"/>
          </a:xfrm>
          <a:prstGeom prst="rect">
            <a:avLst/>
          </a:prstGeom>
        </p:spPr>
      </p:pic>
      <p:pic>
        <p:nvPicPr>
          <p:cNvPr id="17" name="Picture 16" descr="eq4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6728" y="4480560"/>
            <a:ext cx="883023" cy="457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94360" y="5715000"/>
            <a:ext cx="11000232" cy="53035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824728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m、J：等效质量与转动惯量；r：轮半径；l：半轮距；bv、bω：等效黏性阻尼。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04 / 状态空间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四状态、双输入、双输出的标准形式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05</a:t>
            </a:r>
          </a:p>
        </p:txBody>
      </p:sp>
      <p:pic>
        <p:nvPicPr>
          <p:cNvPr id="8" name="Picture 7" descr="eq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623" y="1664208"/>
            <a:ext cx="4695712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395728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1">
                <a:solidFill>
                  <a:srgbClr val="143354"/>
                </a:solidFill>
                <a:latin typeface="Noto Sans CJK SC"/>
              </a:defRPr>
            </a:pPr>
            <a:r>
              <a:t>x = [s, v, ψ, ω]ᵀ       u = [τL, τR]ᵀ       y = [s, ψ]ᵀ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200" b="1">
                <a:solidFill>
                  <a:srgbClr val="1761C0"/>
                </a:solidFill>
                <a:latin typeface="Noto Sans CJK SC"/>
              </a:defRPr>
            </a:pPr>
            <a:r>
              <a:t>A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97180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1165" y="297180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1860" y="297180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2554" y="297180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38328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1165" y="338328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−a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1860" y="338328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2554" y="338328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79476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1165" y="379476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1860" y="379476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2554" y="379476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420624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71165" y="420624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420624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2554" y="4206240"/>
            <a:ext cx="980694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−b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71600" y="2999232"/>
            <a:ext cx="0" cy="158191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71600" y="299923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71600" y="4581144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532120" y="2999232"/>
            <a:ext cx="0" cy="158191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440680" y="299923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440680" y="4581144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80760" y="3127248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200" b="1">
                <a:solidFill>
                  <a:srgbClr val="1761C0"/>
                </a:solidFill>
                <a:latin typeface="Noto Sans CJK SC"/>
              </a:defRPr>
            </a:pPr>
            <a:r>
              <a:t>B 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971800"/>
            <a:ext cx="1527048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2971800"/>
            <a:ext cx="1527048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3383280"/>
            <a:ext cx="1527048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3383280"/>
            <a:ext cx="1527048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794760"/>
            <a:ext cx="1527048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9" y="3794760"/>
            <a:ext cx="1527048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4206240"/>
            <a:ext cx="1527048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−d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59" y="4206240"/>
            <a:ext cx="1527048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20840" y="2999232"/>
            <a:ext cx="0" cy="158191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20840" y="2999232"/>
            <a:ext cx="91439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20840" y="4581144"/>
            <a:ext cx="91439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012680" y="2999232"/>
            <a:ext cx="0" cy="158191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921240" y="299923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921240" y="4581144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77240" y="5047488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200" b="1">
                <a:solidFill>
                  <a:srgbClr val="1761C0"/>
                </a:solidFill>
                <a:latin typeface="Noto Sans CJK SC"/>
              </a:defRPr>
            </a:pPr>
            <a:r>
              <a:t>C 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90472" y="4864608"/>
            <a:ext cx="980694" cy="3886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71165" y="4864608"/>
            <a:ext cx="980694" cy="3886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1860" y="4864608"/>
            <a:ext cx="980694" cy="3886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2554" y="4864608"/>
            <a:ext cx="980694" cy="3886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90472" y="5253228"/>
            <a:ext cx="980694" cy="3886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71165" y="5253228"/>
            <a:ext cx="980694" cy="3886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1860" y="5253228"/>
            <a:ext cx="980694" cy="3886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2554" y="5253228"/>
            <a:ext cx="980694" cy="3886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371600" y="4892040"/>
            <a:ext cx="0" cy="71323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371600" y="4892040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371600" y="560527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532120" y="4892040"/>
            <a:ext cx="0" cy="71323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440680" y="4892040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440680" y="560527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080760" y="5047488"/>
            <a:ext cx="356616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300" b="0">
                <a:solidFill>
                  <a:srgbClr val="143354"/>
                </a:solidFill>
                <a:latin typeface="Noto Sans CJK SC"/>
              </a:defRPr>
            </a:pPr>
            <a:r>
              <a:t>D = 0₂×₂</a:t>
            </a:r>
          </a:p>
        </p:txBody>
      </p:sp>
      <p:pic>
        <p:nvPicPr>
          <p:cNvPr id="64" name="Picture 63" descr="eq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52" y="5815584"/>
            <a:ext cx="281481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05 / 数值实例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给出一组可复现的教学参数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1761C0"/>
                </a:solidFill>
                <a:latin typeface="Noto Sans CJK SC"/>
              </a:defRPr>
            </a:pPr>
            <a:r>
              <a:t>用于演示计算，不代表实际样机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4663440" cy="429768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50591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等效质量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450591"/>
            <a:ext cx="1874519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1">
                <a:solidFill>
                  <a:srgbClr val="1761C0"/>
                </a:solidFill>
                <a:latin typeface="Noto Sans CJK SC"/>
              </a:defRPr>
            </a:pPr>
            <a:r>
              <a:t>40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7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偏航惯量 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98647"/>
            <a:ext cx="1874519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1">
                <a:solidFill>
                  <a:srgbClr val="1761C0"/>
                </a:solidFill>
                <a:latin typeface="Noto Sans CJK SC"/>
              </a:defRPr>
            </a:pPr>
            <a:r>
              <a:t>4 kg·m²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19272"/>
            <a:ext cx="4663440" cy="429768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46703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轮半径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346703"/>
            <a:ext cx="1874519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1">
                <a:solidFill>
                  <a:srgbClr val="1761C0"/>
                </a:solidFill>
                <a:latin typeface="Noto Sans CJK SC"/>
              </a:defRPr>
            </a:pPr>
            <a:r>
              <a:t>0.10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半轮距 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794760"/>
            <a:ext cx="1874519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1">
                <a:solidFill>
                  <a:srgbClr val="1761C0"/>
                </a:solidFill>
                <a:latin typeface="Noto Sans CJK SC"/>
              </a:defRPr>
            </a:pPr>
            <a:r>
              <a:t>0.25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15383"/>
            <a:ext cx="4663440" cy="429768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42816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纵向阻尼 bv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242816"/>
            <a:ext cx="1874519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1">
                <a:solidFill>
                  <a:srgbClr val="1761C0"/>
                </a:solidFill>
                <a:latin typeface="Noto Sans CJK SC"/>
              </a:defRPr>
            </a:pPr>
            <a:r>
              <a:t>40 N·s/m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90872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253D55"/>
                </a:solidFill>
                <a:latin typeface="Noto Sans CJK SC"/>
              </a:defRPr>
            </a:pPr>
            <a:r>
              <a:t>偏航阻尼 bω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690872"/>
            <a:ext cx="1874519" cy="34747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700" b="1">
                <a:solidFill>
                  <a:srgbClr val="1761C0"/>
                </a:solidFill>
                <a:latin typeface="Noto Sans CJK SC"/>
              </a:defRPr>
            </a:pPr>
            <a:r>
              <a:t>10 N·m·s/rad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1719072"/>
            <a:ext cx="530352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1761C0"/>
                </a:solidFill>
                <a:latin typeface="Noto Sans CJK SC"/>
              </a:defRPr>
            </a:pPr>
            <a:r>
              <a:t>代入状态矩阵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331720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000" b="1">
                <a:solidFill>
                  <a:srgbClr val="1761C0"/>
                </a:solidFill>
                <a:latin typeface="Noto Sans CJK SC"/>
              </a:defRPr>
            </a:pPr>
            <a:r>
              <a:t>A 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224028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6106" y="224028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1100" y="224028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6094" y="224028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61747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6106" y="261747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−1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1100" y="261747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6094" y="261747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299466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6106" y="299466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1100" y="299466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6094" y="299466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337185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6106" y="337185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1100" y="337185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6094" y="3371850"/>
            <a:ext cx="1094994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−2.5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92240" y="2267712"/>
            <a:ext cx="0" cy="1444751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92240" y="2267712"/>
            <a:ext cx="91439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492240" y="3712463"/>
            <a:ext cx="91439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109959" y="2267712"/>
            <a:ext cx="0" cy="1444751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1018519" y="226771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1018519" y="3712463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897880" y="4133087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000" b="1">
                <a:solidFill>
                  <a:srgbClr val="1761C0"/>
                </a:solidFill>
                <a:latin typeface="Noto Sans CJK SC"/>
              </a:defRPr>
            </a:pPr>
            <a:r>
              <a:t>B 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3977639"/>
            <a:ext cx="2189988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1100" y="3977639"/>
            <a:ext cx="2189988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354829"/>
            <a:ext cx="2189988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0.25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01100" y="4354829"/>
            <a:ext cx="2189988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0.25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732020"/>
            <a:ext cx="2189988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01100" y="4732020"/>
            <a:ext cx="2189988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5109209"/>
            <a:ext cx="2189988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−0.625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01100" y="5109209"/>
            <a:ext cx="2189988" cy="37719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100" b="0">
                <a:solidFill>
                  <a:srgbClr val="143354"/>
                </a:solidFill>
                <a:latin typeface="Noto Sans CJK SC"/>
              </a:defRPr>
            </a:pPr>
            <a:r>
              <a:t>0.625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92240" y="4005072"/>
            <a:ext cx="0" cy="144475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92240" y="4005072"/>
            <a:ext cx="91439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492240" y="5449824"/>
            <a:ext cx="91439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109959" y="4005072"/>
            <a:ext cx="0" cy="144475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018519" y="400507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1018519" y="5449824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594360" y="5715000"/>
            <a:ext cx="11000232" cy="53035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" y="5824728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a = 1 s⁻¹，b = 2.5 s⁻¹；纵向与偏航速度时间常数分别为 1 s、0.4 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06 / 输入—输出描述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由状态方程，得到 2 × 2 传递函数矩阵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07</a:t>
            </a:r>
          </a:p>
        </p:txBody>
      </p:sp>
      <p:pic>
        <p:nvPicPr>
          <p:cNvPr id="8" name="Picture 7" descr="eq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538" y="1719072"/>
            <a:ext cx="3552444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700" b="0">
                <a:solidFill>
                  <a:srgbClr val="61768B"/>
                </a:solidFill>
                <a:latin typeface="Noto Sans CJK SC"/>
              </a:defRPr>
            </a:pPr>
            <a:r>
              <a:t>零初始条件；用 p 表示拉普拉斯变量，避免与行程 s 混淆。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0584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200" b="1">
                <a:solidFill>
                  <a:srgbClr val="1761C0"/>
                </a:solidFill>
                <a:latin typeface="Noto Sans CJK SC"/>
              </a:defRPr>
            </a:pPr>
            <a:r>
              <a:t>G(p) =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2816352"/>
            <a:ext cx="0" cy="1874520"/>
          </a:xfrm>
          <a:prstGeom prst="line">
            <a:avLst/>
          </a:prstGeom>
          <a:ln w="1905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65960" y="2816352"/>
            <a:ext cx="109728" cy="0"/>
          </a:xfrm>
          <a:prstGeom prst="line">
            <a:avLst/>
          </a:prstGeom>
          <a:ln w="1905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65960" y="4690872"/>
            <a:ext cx="109728" cy="0"/>
          </a:xfrm>
          <a:prstGeom prst="line">
            <a:avLst/>
          </a:prstGeom>
          <a:ln w="1905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04120" y="2816352"/>
            <a:ext cx="0" cy="1874520"/>
          </a:xfrm>
          <a:prstGeom prst="line">
            <a:avLst/>
          </a:prstGeom>
          <a:ln w="1905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994392" y="2816352"/>
            <a:ext cx="109728" cy="0"/>
          </a:xfrm>
          <a:prstGeom prst="line">
            <a:avLst/>
          </a:prstGeom>
          <a:ln w="1905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994392" y="4690872"/>
            <a:ext cx="109728" cy="0"/>
          </a:xfrm>
          <a:prstGeom prst="line">
            <a:avLst/>
          </a:prstGeom>
          <a:ln w="1905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eq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733" y="2880360"/>
            <a:ext cx="1304692" cy="822960"/>
          </a:xfrm>
          <a:prstGeom prst="rect">
            <a:avLst/>
          </a:prstGeom>
        </p:spPr>
      </p:pic>
      <p:pic>
        <p:nvPicPr>
          <p:cNvPr id="18" name="Picture 17" descr="eq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653" y="2880360"/>
            <a:ext cx="1304692" cy="822960"/>
          </a:xfrm>
          <a:prstGeom prst="rect">
            <a:avLst/>
          </a:prstGeom>
        </p:spPr>
      </p:pic>
      <p:pic>
        <p:nvPicPr>
          <p:cNvPr id="19" name="Picture 18" descr="eq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235" y="3822191"/>
            <a:ext cx="1447688" cy="822960"/>
          </a:xfrm>
          <a:prstGeom prst="rect">
            <a:avLst/>
          </a:prstGeom>
        </p:spPr>
      </p:pic>
      <p:pic>
        <p:nvPicPr>
          <p:cNvPr id="20" name="Picture 19" descr="eq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316" y="3822191"/>
            <a:ext cx="1171366" cy="8229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22960" y="4956048"/>
            <a:ext cx="10515600" cy="45720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101498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1761C0"/>
                </a:solidFill>
                <a:latin typeface="Noto Sans CJK SC"/>
              </a:defRPr>
            </a:pPr>
            <a:r>
              <a:t>输出顺序：[s, ψ]ᵀ         输入顺序：[τL, τR]ᵀ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715000"/>
            <a:ext cx="11000232" cy="53035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824728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同号项体现前进合力；异号项体现转向力矩。模型含位置积分环节。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07 / 状态方程的解 · 选做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阶跃响应：分别激励两个输入通道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08</a:t>
            </a:r>
          </a:p>
        </p:txBody>
      </p:sp>
      <p:pic>
        <p:nvPicPr>
          <p:cNvPr id="8" name="Picture 7" descr="eq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976" y="1719072"/>
            <a:ext cx="4063567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800" b="0">
                <a:solidFill>
                  <a:srgbClr val="61768B"/>
                </a:solidFill>
                <a:latin typeface="Noto Sans CJK SC"/>
              </a:defRPr>
            </a:pPr>
            <a:r>
              <a:t>取 x(0) = 0，u(t) = [UL, UR]ᵀ H(t)；H(t) 为单位阶跃函数。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63240"/>
            <a:ext cx="5349240" cy="228600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3063240"/>
            <a:ext cx="5394960" cy="228600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q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461" y="3310128"/>
            <a:ext cx="3391036" cy="594360"/>
          </a:xfrm>
          <a:prstGeom prst="rect">
            <a:avLst/>
          </a:prstGeom>
        </p:spPr>
      </p:pic>
      <p:pic>
        <p:nvPicPr>
          <p:cNvPr id="13" name="Picture 12" descr="eq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257" y="4242816"/>
            <a:ext cx="4047444" cy="685800"/>
          </a:xfrm>
          <a:prstGeom prst="rect">
            <a:avLst/>
          </a:prstGeom>
        </p:spPr>
      </p:pic>
      <p:pic>
        <p:nvPicPr>
          <p:cNvPr id="14" name="Picture 13" descr="eq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537" y="3310128"/>
            <a:ext cx="3149149" cy="594360"/>
          </a:xfrm>
          <a:prstGeom prst="rect">
            <a:avLst/>
          </a:prstGeom>
        </p:spPr>
      </p:pic>
      <p:pic>
        <p:nvPicPr>
          <p:cNvPr id="15" name="Picture 14" descr="eq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4988" y="4242816"/>
            <a:ext cx="3744246" cy="685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5715000"/>
            <a:ext cx="11000232" cy="53035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5824728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严格的 MIMO 单位阶跃：分别取 (UL, UR) = (1, 0)、(0, 1)，即可得到两列响应。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08 / 数值仿真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响应符合直觉：同向前进，差动转向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8" name="Picture 7" descr="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10652760" cy="4261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44184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400" b="1">
                <a:solidFill>
                  <a:srgbClr val="1761C0"/>
                </a:solidFill>
                <a:latin typeface="Noto Sans CJK SC"/>
              </a:defRPr>
            </a:pPr>
            <a:r>
              <a:t>零初态｜同向：ψ = ω = 0；反向：s = v = 0｜解析解与状态空间数值仿真一致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09 / 能控性判定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能控性：左右轮能独立影响全部四个状态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8" name="Picture 7" descr="eq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1773936"/>
            <a:ext cx="6291072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560320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900" b="0">
                <a:solidFill>
                  <a:srgbClr val="253D55"/>
                </a:solidFill>
                <a:latin typeface="Noto Sans CJK SC"/>
              </a:defRPr>
            </a:pPr>
            <a:r>
              <a:t>只需找到一个非零的四阶子式：取前四列 [B  AB]。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1761C0"/>
                </a:solidFill>
                <a:latin typeface="Noto Sans CJK SC"/>
              </a:defRPr>
            </a:pPr>
            <a:r>
              <a:t>[B  AB]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306324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306324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306324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306324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348615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348615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348615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−ac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48615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−ac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390906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390906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390906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−d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390906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632" y="433197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−d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6" y="433197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433197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433197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−bd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0" y="3090672"/>
            <a:ext cx="0" cy="162763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51760" y="309067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51760" y="4718304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0" y="3090672"/>
            <a:ext cx="0" cy="162763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223760" y="309067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223760" y="4718304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772400" y="3063240"/>
            <a:ext cx="3566160" cy="169164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eq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351332"/>
            <a:ext cx="3291840" cy="47537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55279" y="4114800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1761C0"/>
                </a:solidFill>
                <a:latin typeface="Noto Sans CJK SC"/>
              </a:defRPr>
            </a:pPr>
            <a:r>
              <a:t>c ≠ 0 且 d ≠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715000"/>
            <a:ext cx="11000232" cy="53035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5824728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因此 rank(𝒞) = 4：该四状态线性模型完全能控。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10 / 能观性判定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能观性：测得行程与航向，可推断速度状态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8" name="Picture 7" descr="eq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897" y="1764792"/>
            <a:ext cx="5373444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56032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1900" b="0">
                <a:solidFill>
                  <a:srgbClr val="253D55"/>
                </a:solidFill>
                <a:latin typeface="Noto Sans CJK SC"/>
              </a:defRPr>
            </a:pPr>
            <a:r>
              <a:t>取前四行：由 C 直接测位置，由 CA 反映速度。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178308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1761C0"/>
                </a:solidFill>
                <a:latin typeface="Noto Sans CJK SC"/>
              </a:defRPr>
            </a:pPr>
            <a:r>
              <a:t>[C; CA]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306324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306324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306324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306324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348615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348615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348615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48615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390906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390906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390906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390906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632" y="433197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6" y="433197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433197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4331970"/>
            <a:ext cx="1106424" cy="42291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200" b="0">
                <a:solidFill>
                  <a:srgbClr val="143354"/>
                </a:solidFill>
                <a:latin typeface="Noto Sans CJK SC"/>
              </a:defRPr>
            </a:pPr>
            <a: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0" y="3090672"/>
            <a:ext cx="0" cy="162763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51760" y="309067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51760" y="4718304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0" y="3090672"/>
            <a:ext cx="0" cy="1627632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223760" y="3090672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223760" y="4718304"/>
            <a:ext cx="91440" cy="0"/>
          </a:xfrm>
          <a:prstGeom prst="line">
            <a:avLst/>
          </a:prstGeom>
          <a:ln w="16510">
            <a:solidFill>
              <a:srgbClr val="143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772400" y="3063240"/>
            <a:ext cx="3566160" cy="169164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eq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836" y="3337560"/>
            <a:ext cx="2939288" cy="5029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55279" y="4114800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000" b="1">
                <a:solidFill>
                  <a:srgbClr val="1761C0"/>
                </a:solidFill>
                <a:latin typeface="Noto Sans CJK SC"/>
              </a:defRPr>
            </a:pPr>
            <a:r>
              <a:t>rank(𝒪) = 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715000"/>
            <a:ext cx="11000232" cy="53035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5824728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因此系统完全能观。若只测 v、ω，则初始 s、ψ 无法辨识，能观性秩降为 2。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11 / 结论与延伸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结论：模型完整覆盖作业，结论限定于简化底盘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0512"/>
            <a:ext cx="914400" cy="77724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8229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1">
                <a:solidFill>
                  <a:srgbClr val="1761C0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1874519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300" b="1">
                <a:solidFill>
                  <a:srgbClr val="143354"/>
                </a:solidFill>
                <a:latin typeface="Noto Sans CJK SC"/>
              </a:defRPr>
            </a:pPr>
            <a:r>
              <a:t>模型成立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810512"/>
            <a:ext cx="7086600" cy="8686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253D55"/>
                </a:solidFill>
                <a:latin typeface="Noto Sans CJK SC"/>
              </a:defRPr>
            </a:pPr>
            <a:r>
              <a:t>由合力与力矩建立四状态模型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253D55"/>
                </a:solidFill>
                <a:latin typeface="Noto Sans CJK SC"/>
              </a:defRPr>
            </a:pPr>
            <a:r>
              <a:t>双输入：轮转矩；双输出：行程与偏航角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914400" cy="77724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8229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1">
                <a:solidFill>
                  <a:srgbClr val="1761C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44368"/>
            <a:ext cx="1874519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300" b="1">
                <a:solidFill>
                  <a:srgbClr val="143354"/>
                </a:solidFill>
                <a:latin typeface="Noto Sans CJK SC"/>
              </a:defRPr>
            </a:pPr>
            <a:r>
              <a:t>动态清楚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26080"/>
            <a:ext cx="7086600" cy="8686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253D55"/>
                </a:solidFill>
                <a:latin typeface="Noto Sans CJK SC"/>
              </a:defRPr>
            </a:pPr>
            <a:r>
              <a:t>得到 2 × 2 传递函数矩阵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253D55"/>
                </a:solidFill>
                <a:latin typeface="Noto Sans CJK SC"/>
              </a:defRPr>
            </a:pPr>
            <a:r>
              <a:t>阶跃响应揭示速度惯性与位置积分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41648"/>
            <a:ext cx="914400" cy="777240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97096"/>
            <a:ext cx="8229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900"/>
              </a:spcAft>
              <a:defRPr sz="2300" b="1">
                <a:solidFill>
                  <a:srgbClr val="1761C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59935"/>
            <a:ext cx="1874519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300" b="1">
                <a:solidFill>
                  <a:srgbClr val="143354"/>
                </a:solidFill>
                <a:latin typeface="Noto Sans CJK SC"/>
              </a:defRPr>
            </a:pPr>
            <a:r>
              <a:t>判据闭合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041648"/>
            <a:ext cx="7086600" cy="8686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253D55"/>
                </a:solidFill>
                <a:latin typeface="Noto Sans CJK SC"/>
              </a:defRPr>
            </a:pPr>
            <a:r>
              <a:t>能控性矩阵与能观性矩阵均为秩 4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253D55"/>
                </a:solidFill>
                <a:latin typeface="Noto Sans CJK SC"/>
              </a:defRPr>
            </a:pPr>
            <a:r>
              <a:t>输出选择会影响能观性结论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715000"/>
            <a:ext cx="11000232" cy="53035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1">
                <a:solidFill>
                  <a:srgbClr val="1761C0"/>
                </a:solidFill>
                <a:latin typeface="Noto Sans CJK SC"/>
              </a:defRPr>
            </a:pPr>
            <a:r>
              <a:t>后续研究可延伸：速度/航向闭环控制 → 老人随行；本次不展开导航、避障与实机安全验证。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000" b="1">
                <a:solidFill>
                  <a:srgbClr val="1761C0"/>
                </a:solidFill>
                <a:latin typeface="Noto Sans CJK SC"/>
              </a:defRPr>
            </a:pPr>
            <a:r>
              <a:t>12 / 参考资料与说明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143354"/>
                </a:solidFill>
                <a:latin typeface="Noto Sans CJK SC"/>
              </a:defRPr>
            </a:pPr>
            <a:r>
              <a:t>依据三章课件，形成可追溯的推导链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45952" cy="0"/>
          </a:xfrm>
          <a:prstGeom prst="line">
            <a:avLst/>
          </a:prstGeom>
          <a:ln w="12700">
            <a:solidFill>
              <a:srgbClr val="D9E5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10424160" cy="2103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900" b="0">
                <a:solidFill>
                  <a:srgbClr val="61768B"/>
                </a:solidFill>
                <a:latin typeface="Noto Sans CJK SC"/>
              </a:defRPr>
            </a:pPr>
            <a:r>
              <a:t>养老陪护机器人 · 差速移动底盘 | 线性系统理论课程汇报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100" b="1">
                <a:solidFill>
                  <a:srgbClr val="1761C0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68580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1761C0"/>
                </a:solidFill>
                <a:latin typeface="Noto Sans CJK SC"/>
              </a:defRPr>
            </a:pPr>
            <a:r>
              <a:t>第一章｜控制系统的数学模型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92224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300" b="0">
                <a:solidFill>
                  <a:srgbClr val="61768B"/>
                </a:solidFill>
                <a:latin typeface="Noto Sans CJK SC"/>
              </a:defRPr>
            </a:pPr>
            <a:r>
              <a:t>PDF 第 1、7、11、37–38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22576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253D55"/>
                </a:solidFill>
                <a:latin typeface="Noto Sans CJK SC"/>
              </a:defRPr>
            </a:pPr>
            <a:r>
              <a:t>建模假设、机械系统微分方程、零状态传递函数、电机建模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68580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1761C0"/>
                </a:solidFill>
                <a:latin typeface="Noto Sans CJK SC"/>
              </a:defRPr>
            </a:pPr>
            <a:r>
              <a:t>第二章｜状态空间分析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53512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300" b="0">
                <a:solidFill>
                  <a:srgbClr val="61768B"/>
                </a:solidFill>
                <a:latin typeface="Noto Sans CJK SC"/>
              </a:defRPr>
            </a:pPr>
            <a:r>
              <a:t>PDF 第 22–23、48–69、70、72 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8386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253D55"/>
                </a:solidFill>
                <a:latin typeface="Noto Sans CJK SC"/>
              </a:defRPr>
            </a:pPr>
            <a:r>
              <a:t>状态空间形式、状态方程的解、传递函数矩阵、作业要求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68580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2100" b="1">
                <a:solidFill>
                  <a:srgbClr val="1761C0"/>
                </a:solidFill>
                <a:latin typeface="Noto Sans CJK SC"/>
              </a:defRPr>
            </a:pPr>
            <a:r>
              <a:t>第三章｜能控性和能观性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114800"/>
            <a:ext cx="3840480" cy="38404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r">
              <a:spcAft>
                <a:spcPts val="900"/>
              </a:spcAft>
              <a:defRPr sz="1300" b="0">
                <a:solidFill>
                  <a:srgbClr val="61768B"/>
                </a:solidFill>
                <a:latin typeface="Noto Sans CJK SC"/>
              </a:defRPr>
            </a:pPr>
            <a:r>
              <a:t>能控性、能观性相关章节；PDF 第 68 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645152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253D55"/>
                </a:solidFill>
                <a:latin typeface="Noto Sans CJK SC"/>
              </a:defRPr>
            </a:pPr>
            <a:r>
              <a:t>采用秩判据完成检验；同页重申综合作业要求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86400"/>
            <a:ext cx="10835640" cy="667512"/>
          </a:xfrm>
          <a:prstGeom prst="round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46988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l">
              <a:spcAft>
                <a:spcPts val="900"/>
              </a:spcAft>
              <a:defRPr sz="1600" b="0">
                <a:solidFill>
                  <a:srgbClr val="253D55"/>
                </a:solidFill>
                <a:latin typeface="Noto Sans CJK SC"/>
              </a:defRPr>
            </a:pPr>
            <a:r>
              <a:t>说明：模型为面向作业的简化推导；参数为教学设定；图表由解析式与数值仿真生成。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